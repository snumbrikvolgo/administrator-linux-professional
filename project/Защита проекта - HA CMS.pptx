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4181E7-F95F-4DBE-B985-33ECB7688E48}">
  <a:tblStyle styleId="{D74181E7-F95F-4DBE-B985-33ECB7688E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52" Type="http://schemas.openxmlformats.org/officeDocument/2006/relationships/font" Target="fonts/Roboto-regular.fntdata"/><Relationship Id="rId53" Type="http://schemas.openxmlformats.org/officeDocument/2006/relationships/font" Target="fonts/Roboto-bold.fntdata"/><Relationship Id="rId54" Type="http://schemas.openxmlformats.org/officeDocument/2006/relationships/font" Target="fonts/Roboto-italic.fntdata"/><Relationship Id="rId55" Type="http://schemas.openxmlformats.org/officeDocument/2006/relationships/font" Target="fonts/Roboto-boldItalic.fntdata"/><Relationship Id="rId56" Type="http://schemas.openxmlformats.org/officeDocument/2006/relationships/font" Target="fonts/RobotoMedium-regular.fntdata"/><Relationship Id="rId57" Type="http://schemas.openxmlformats.org/officeDocument/2006/relationships/font" Target="fonts/RobotoMedium-bold.fntdata"/><Relationship Id="rId58" Type="http://schemas.openxmlformats.org/officeDocument/2006/relationships/font" Target="fonts/RobotoMedium-italic.fntdata"/><Relationship Id="rId59" Type="http://schemas.openxmlformats.org/officeDocument/2006/relationships/font" Target="fonts/Roboto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Администратор Linux. Professional  |  Итоговый проект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Отказоустойчивый CMS-сервис на Vagrant и Ansible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Защита проекта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Тема: отказоустойчивый CMS-сервис с автоматическим развертыванием,</a:t>
            </a:r>
          </a:p>
          <a:p>
            <a:pPr lvl="1"/>
            <a:r>
              <a:rPr sz="1300"/>
              <a:t>мониторингом, централизованным логированием и резервным копированием</a:t>
            </a:r>
          </a:p>
          <a:p>
            <a:pPr/>
          </a:p>
          <a:p>
            <a:pPr/>
            <a:r>
              <a:rPr sz="1500"/>
              <a:t>Автор: &lt;ФИО&gt;</a:t>
            </a:r>
          </a:p>
          <a:p>
            <a:pPr/>
            <a:r>
              <a:rPr sz="1500"/>
              <a:t>Системное администрирование Linux, инфраструктура и автоматизация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защиты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Цель и задачи проекта</a:t>
            </a:r>
          </a:p>
          <a:p>
            <a:pPr/>
            <a:r>
              <a:rPr sz="1500"/>
              <a:t>Архитектура и требования</a:t>
            </a:r>
          </a:p>
          <a:p>
            <a:pPr/>
            <a:r>
              <a:rPr sz="1500"/>
              <a:t>Использованные технологии</a:t>
            </a:r>
          </a:p>
          <a:p>
            <a:pPr/>
            <a:r>
              <a:rPr sz="1500"/>
              <a:t>Что получилось: HTTPS/DMZ, мониторинг, логи, backup</a:t>
            </a:r>
          </a:p>
          <a:p>
            <a:pPr/>
            <a:r>
              <a:rPr sz="1500"/>
              <a:t>Отказоустойчивость и воспроизводимость. Выводы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и задачи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Цель: воспроизводимый отказоустойчивый веб-сервис,</a:t>
            </a:r>
          </a:p>
          <a:p>
            <a:pPr lvl="1"/>
            <a:r>
              <a:rPr sz="1300"/>
              <a:t>разворачиваемый и восстанавливаемый одним прогоном Ansible</a:t>
            </a:r>
          </a:p>
          <a:p>
            <a:pPr/>
            <a:r>
              <a:rPr sz="1500"/>
              <a:t>Задачи:</a:t>
            </a:r>
          </a:p>
          <a:p>
            <a:pPr lvl="1"/>
            <a:r>
              <a:rPr sz="1300"/>
              <a:t>4 VM через Vagrant, вся настройка -- Ansible, идемпотентно</a:t>
            </a:r>
          </a:p>
          <a:p>
            <a:pPr lvl="1"/>
            <a:r>
              <a:rPr sz="1300"/>
              <a:t>HTTPS, вынос в DMZ, firewall на входе</a:t>
            </a:r>
          </a:p>
          <a:p>
            <a:pPr lvl="1"/>
            <a:r>
              <a:rPr sz="1300"/>
              <a:t>балансировка 2 backend + streaming-репликация PostgreSQL</a:t>
            </a:r>
          </a:p>
          <a:p>
            <a:pPr lvl="1"/>
            <a:r>
              <a:rPr sz="1300"/>
              <a:t>метрики и алертинг, централизованный сбор логов, backup</a:t>
            </a:r>
          </a:p>
          <a:p>
            <a:pPr lvl="1"/>
            <a:r>
              <a:rPr sz="1300"/>
              <a:t>тестовые сценарии отказа и восстановления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Архитектура: 4 виртуальные машины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web  192.168.57.10 -- Nginx: frontend, TLS, reverse proxy, балансировка</a:t>
            </a:r>
          </a:p>
          <a:p>
            <a:pPr/>
            <a:r>
              <a:rPr sz="1500"/>
              <a:t>app1 192.168.57.11 -- Flask backend #1, PostgreSQL primary</a:t>
            </a:r>
          </a:p>
          <a:p>
            <a:pPr/>
            <a:r>
              <a:rPr sz="1500"/>
              <a:t>app2 192.168.57.12 -- Flask backend #2, PostgreSQL replica</a:t>
            </a:r>
          </a:p>
          <a:p>
            <a:pPr/>
            <a:r>
              <a:rPr sz="1500"/>
              <a:t>elk  192.168.57.13 -- Elasticsearch, Logstash, Kibana, Prometheus,</a:t>
            </a:r>
          </a:p>
          <a:p>
            <a:pPr lvl="1"/>
            <a:r>
              <a:rPr sz="1300"/>
              <a:t>Grafana, Alertmanager</a:t>
            </a:r>
          </a:p>
          <a:p>
            <a:pPr/>
          </a:p>
          <a:p>
            <a:pPr/>
            <a:r>
              <a:rPr sz="1500"/>
              <a:t>client -&gt; web:443 -&gt; app1/app2:8000 -&gt; PostgreSQL primary -&gt; replica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Требования и как они закрыты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HTTPS -- nginx 80/443, редирект на HTTPS, self-signed с SAN</a:t>
            </a:r>
          </a:p>
          <a:p>
            <a:pPr/>
            <a:r>
              <a:rPr sz="1500"/>
              <a:t>DMZ -- внешний доступ только у web; остальное во внутренней сети</a:t>
            </a:r>
          </a:p>
          <a:p>
            <a:pPr/>
            <a:r>
              <a:rPr sz="1500"/>
              <a:t>Firewall -- firewalld на web пускает снаружи только http/https</a:t>
            </a:r>
          </a:p>
          <a:p>
            <a:pPr/>
            <a:r>
              <a:rPr sz="1500"/>
              <a:t>Метрики и алертинг -- Prometheus + Alertmanager, 4 правила, письма</a:t>
            </a:r>
          </a:p>
          <a:p>
            <a:pPr/>
            <a:r>
              <a:rPr sz="1500"/>
              <a:t>Логи -- Filebeat -&gt; Logstash (парсинг) -&gt; Elasticsearch -&gt; Kibana</a:t>
            </a:r>
          </a:p>
          <a:p>
            <a:pPr/>
            <a:r>
              <a:rPr sz="1500"/>
              <a:t>Backup -- ежедневный pg_dump + gzip, ротация 7 дней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Vagrant + VirtualBox -- 4 VM из одного файла, конфиг в Ruby-хэше</a:t>
            </a:r>
          </a:p>
          <a:p>
            <a:pPr/>
            <a:r>
              <a:rPr sz="1500"/>
              <a:t>Ansible -- только ansible.builtin, 9 коротких ролей, идемпотентно</a:t>
            </a:r>
          </a:p>
          <a:p>
            <a:pPr/>
            <a:r>
              <a:rPr sz="1500"/>
              <a:t>Nginx -- TLS, round-robin, proxy_next_upstream при отказе backend</a:t>
            </a:r>
          </a:p>
          <a:p>
            <a:pPr/>
            <a:r>
              <a:rPr sz="1500"/>
              <a:t>Flask + PostgreSQL 13 -- CRUD, streaming replication через pg_basebackup</a:t>
            </a:r>
          </a:p>
          <a:p>
            <a:pPr/>
            <a:r>
              <a:rPr sz="1500"/>
              <a:t>Elastic 8.19.20 -- ES / Logstash / Kibana / Filebeat, версия зафиксирована</a:t>
            </a:r>
          </a:p>
          <a:p>
            <a:pPr/>
            <a:r>
              <a:rPr sz="1500"/>
              <a:t>Prometheus / Alertmanager / Grafana / blackbox_exporter / Postfix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HTTPS, DMZ, firewall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Nginx слушает 80 и 443, весь HTTP редиректит на HTTPS</a:t>
            </a:r>
          </a:p>
          <a:p>
            <a:pPr/>
            <a:r>
              <a:rPr sz="1500"/>
              <a:t>Self-signed сертификат с SAN: web, cms.local, 192.168.57.10</a:t>
            </a:r>
          </a:p>
          <a:p>
            <a:pPr lvl="1"/>
            <a:r>
              <a:rPr sz="1300"/>
              <a:t>не перегенерируется при повторном запуске (creates:)</a:t>
            </a:r>
          </a:p>
          <a:p>
            <a:pPr/>
            <a:r>
              <a:rPr sz="1500"/>
              <a:t>web -- единственная точка входа (DMZ)</a:t>
            </a:r>
          </a:p>
          <a:p>
            <a:pPr/>
            <a:r>
              <a:rPr sz="1500"/>
              <a:t>firewalld на web: снаружи только http и https</a:t>
            </a:r>
          </a:p>
          <a:p>
            <a:pPr lvl="1"/>
            <a:r>
              <a:rPr sz="1300"/>
              <a:t>backend, PostgreSQL, порты мониторинга -- только внутренняя сеть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Мониторинг и алертинг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node_exporter на всех 4 VM -- CPU, память, диск</a:t>
            </a:r>
          </a:p>
          <a:p>
            <a:pPr/>
            <a:r>
              <a:rPr sz="1500"/>
              <a:t>blackbox_exporter -- проба app1/app2 /api/health и https://web</a:t>
            </a:r>
          </a:p>
          <a:p>
            <a:pPr/>
            <a:r>
              <a:rPr sz="1500"/>
              <a:t>Правила: InstanceDown, BackendDown (отдельно app1/app2), CmsDown, HighDiskUsage</a:t>
            </a:r>
          </a:p>
          <a:p>
            <a:pPr/>
            <a:r>
              <a:rPr sz="1500"/>
              <a:t>Alertmanager -&gt; письмо на локальный ящик на elk (Postfix, без внешнего SMTP)</a:t>
            </a:r>
          </a:p>
          <a:p>
            <a:pPr/>
            <a:r>
              <a:rPr sz="1500"/>
              <a:t>Grafana -- datasource Prometheus через provisioning</a:t>
            </a:r>
          </a:p>
          <a:p>
            <a:pPr/>
            <a:r>
              <a:rPr sz="1500"/>
              <a:t>Проверено: стоп backend -&gt; письмо [FIRING] -&gt; старт -&gt; [RESOLVED]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Централизованный сбор логов (ELK)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Filebeat на web/app1/app2 -&gt; Logstash на elk:5044</a:t>
            </a:r>
          </a:p>
          <a:p>
            <a:pPr/>
            <a:r>
              <a:rPr sz="1500"/>
              <a:t>Logstash парсит nginx access log в поля:</a:t>
            </a:r>
          </a:p>
          <a:p>
            <a:pPr lvl="1"/>
            <a:r>
              <a:rPr sz="1300"/>
              <a:t>client_ip, method, request, status, bytes, user_agent</a:t>
            </a:r>
          </a:p>
          <a:p>
            <a:pPr/>
            <a:r>
              <a:rPr sz="1500"/>
              <a:t>backend-логи пишутся и разбираются как JSON</a:t>
            </a:r>
          </a:p>
          <a:p>
            <a:pPr/>
            <a:r>
              <a:rPr sz="1500"/>
              <a:t>Индексы cms-nginx-* и cms-backend-*, просмотр в Kibana</a:t>
            </a:r>
          </a:p>
          <a:p>
            <a:pPr/>
            <a:r>
              <a:rPr sz="1500"/>
              <a:t>status:500 находит /api/demo-error -- парсинг работает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Репликация и резервное копирование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Streaming replication: app1 primary (rw), app2 replica (ro)</a:t>
            </a:r>
          </a:p>
          <a:p>
            <a:pPr lvl="1"/>
            <a:r>
              <a:rPr sz="1300"/>
              <a:t>новые статьи появляются на реплике; pg_is_in_recovery = f / t</a:t>
            </a:r>
          </a:p>
          <a:p>
            <a:pPr/>
            <a:r>
              <a:rPr sz="1500"/>
              <a:t>Идемпотентно: при наличии PG_VERSION + standby.signal реплика не пересоздается</a:t>
            </a:r>
          </a:p>
          <a:p>
            <a:pPr/>
            <a:r>
              <a:rPr sz="1500"/>
              <a:t>Backup: cms-backup.timer на app1 -- ежедневно pg_dump + gzip</a:t>
            </a:r>
          </a:p>
          <a:p>
            <a:pPr lvl="1"/>
            <a:r>
              <a:rPr sz="1300"/>
              <a:t>/var/backups/cms, ротация 7 дней, первый дамп сразу при деплое</a:t>
            </a:r>
          </a:p>
          <a:p>
            <a:pPr/>
            <a:r>
              <a:rPr sz="1500"/>
              <a:t>Восстановление: zcat дамп | psql cms, репликация доносит данные до app2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Отказоустойчивость: сломать -&gt; восстановить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Стоп backend app1 -&gt; CMS живет через app2, alert BackendDown только для app1</a:t>
            </a:r>
          </a:p>
          <a:p>
            <a:pPr/>
            <a:r>
              <a:rPr sz="1500"/>
              <a:t>vagrant halt web -&gt; CmsDown; halt app2 -&gt; CMS работает через app1</a:t>
            </a:r>
          </a:p>
          <a:p>
            <a:pPr/>
            <a:r>
              <a:rPr sz="1500"/>
              <a:t>vagrant destroy app2 -&gt; up -&gt; ansible --limit app2 -&gt; replica с нуля</a:t>
            </a:r>
          </a:p>
          <a:p>
            <a:pPr/>
            <a:r>
              <a:rPr sz="1500"/>
              <a:t>Восстановление -- только Ansible, без ручной настройки в VM</a:t>
            </a:r>
          </a:p>
          <a:p>
            <a:pPr/>
            <a:r>
              <a:rPr sz="1500"/>
              <a:t>После восстановления: playbooks/verify.yml -&gt; failed=0, alert -&gt; Inactive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Воспроизводимость и идемпотентность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У каждой VM snapshot base-vm-up (состояние до Ansible)</a:t>
            </a:r>
          </a:p>
          <a:p>
            <a:pPr/>
            <a:r>
              <a:rPr sz="1500"/>
              <a:t>Цепочка: snapshot -&gt; ansible-playbook -&gt; verify.yml проходит целиком</a:t>
            </a:r>
          </a:p>
          <a:p>
            <a:pPr/>
            <a:r>
              <a:rPr sz="1500"/>
              <a:t>Повторный полный прогон: changed=0, failed=0 на всех хостах</a:t>
            </a:r>
          </a:p>
          <a:p>
            <a:pPr lvl="1"/>
            <a:r>
              <a:rPr sz="1300"/>
              <a:t>нет повторного initdb / pg_basebackup, регенерации TLS, рестарта ELK</a:t>
            </a:r>
          </a:p>
          <a:p>
            <a:pPr/>
            <a:r>
              <a:rPr sz="1500"/>
              <a:t>playbooks/verify.yml -- 25+ проверок в формате Ansible (uri + assert)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500"/>
              <a:t>Цель достигнута: стенд разворачивается и восстанавливается одним Ansible</a:t>
            </a:r>
          </a:p>
          <a:p>
            <a:pPr/>
            <a:r>
              <a:rPr sz="1500"/>
              <a:t>Все 6 требований закрыты и проверены сценариями</a:t>
            </a:r>
          </a:p>
          <a:p>
            <a:pPr/>
            <a:r>
              <a:rPr sz="1500"/>
              <a:t>Легко: роли Ansible, модули вместо shell, blackbox для проверки сервисов</a:t>
            </a:r>
          </a:p>
          <a:p>
            <a:pPr/>
            <a:r>
              <a:rPr sz="1500"/>
              <a:t>Трудно: SSH banner timeout WSL&lt;-&gt;VirtualBox, OOM dnf на 768 MB, порядок ELK</a:t>
            </a:r>
          </a:p>
          <a:p>
            <a:pPr/>
            <a:r>
              <a:rPr sz="1500"/>
              <a:t>Полезность: 9/10 -- цельный опыт инфраструктурного проекта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